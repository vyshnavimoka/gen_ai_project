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larendon Narrow" charset="1" panose="00000506000000000000"/>
      <p:regular r:id="rId16"/>
    </p:embeddedFont>
    <p:embeddedFont>
      <p:font typeface="Cloud Bold" charset="1" panose="02000000000000000000"/>
      <p:regular r:id="rId17"/>
    </p:embeddedFont>
    <p:embeddedFont>
      <p:font typeface="Clarendon Narrow Bold" charset="1" panose="00000806000000000000"/>
      <p:regular r:id="rId18"/>
    </p:embeddedFont>
    <p:embeddedFont>
      <p:font typeface="Cloud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12.pn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12.pn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99198" y="665151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93484" y="-383408"/>
            <a:ext cx="11067650" cy="11053816"/>
          </a:xfrm>
          <a:custGeom>
            <a:avLst/>
            <a:gdLst/>
            <a:ahLst/>
            <a:cxnLst/>
            <a:rect r="r" b="b" t="t" l="l"/>
            <a:pathLst>
              <a:path h="11053816" w="11067650">
                <a:moveTo>
                  <a:pt x="0" y="0"/>
                </a:moveTo>
                <a:lnTo>
                  <a:pt x="11067651" y="0"/>
                </a:lnTo>
                <a:lnTo>
                  <a:pt x="11067651" y="11053816"/>
                </a:lnTo>
                <a:lnTo>
                  <a:pt x="0" y="11053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7857602" y="-1836977"/>
            <a:ext cx="11343275" cy="13960954"/>
            <a:chOff x="0" y="0"/>
            <a:chExt cx="6604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660400" cy="78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333092" y="-383408"/>
            <a:ext cx="5426576" cy="4676722"/>
          </a:xfrm>
          <a:custGeom>
            <a:avLst/>
            <a:gdLst/>
            <a:ahLst/>
            <a:cxnLst/>
            <a:rect r="r" b="b" t="t" l="l"/>
            <a:pathLst>
              <a:path h="4676722" w="5426576">
                <a:moveTo>
                  <a:pt x="0" y="0"/>
                </a:moveTo>
                <a:lnTo>
                  <a:pt x="5426576" y="0"/>
                </a:lnTo>
                <a:lnTo>
                  <a:pt x="5426576" y="4676722"/>
                </a:lnTo>
                <a:lnTo>
                  <a:pt x="0" y="46767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204154" y="7647498"/>
            <a:ext cx="2176042" cy="2427633"/>
          </a:xfrm>
          <a:custGeom>
            <a:avLst/>
            <a:gdLst/>
            <a:ahLst/>
            <a:cxnLst/>
            <a:rect r="r" b="b" t="t" l="l"/>
            <a:pathLst>
              <a:path h="2427633" w="2176042">
                <a:moveTo>
                  <a:pt x="2176042" y="2427634"/>
                </a:moveTo>
                <a:lnTo>
                  <a:pt x="0" y="2427634"/>
                </a:lnTo>
                <a:lnTo>
                  <a:pt x="0" y="0"/>
                </a:lnTo>
                <a:lnTo>
                  <a:pt x="2176042" y="0"/>
                </a:lnTo>
                <a:lnTo>
                  <a:pt x="2176042" y="242763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63699" y="3202115"/>
            <a:ext cx="10345288" cy="282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3"/>
              </a:lnSpc>
            </a:pPr>
            <a:r>
              <a:rPr lang="en-US" sz="8027">
                <a:solidFill>
                  <a:srgbClr val="F5EFEB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FINANCIAL NEWS ENTITY EXTRACTION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82110" y="6346715"/>
            <a:ext cx="770846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Presented by Group - 5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504025" y="-343927"/>
            <a:ext cx="6508145" cy="2745254"/>
          </a:xfrm>
          <a:custGeom>
            <a:avLst/>
            <a:gdLst/>
            <a:ahLst/>
            <a:cxnLst/>
            <a:rect r="r" b="b" t="t" l="l"/>
            <a:pathLst>
              <a:path h="2745254" w="6508145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5889928" y="-343927"/>
            <a:ext cx="6508145" cy="2745254"/>
          </a:xfrm>
          <a:custGeom>
            <a:avLst/>
            <a:gdLst/>
            <a:ahLst/>
            <a:cxnLst/>
            <a:rect r="r" b="b" t="t" l="l"/>
            <a:pathLst>
              <a:path h="2745254" w="6508145">
                <a:moveTo>
                  <a:pt x="6508144" y="2745254"/>
                </a:moveTo>
                <a:lnTo>
                  <a:pt x="0" y="2745254"/>
                </a:lnTo>
                <a:lnTo>
                  <a:pt x="0" y="0"/>
                </a:lnTo>
                <a:lnTo>
                  <a:pt x="6508144" y="0"/>
                </a:lnTo>
                <a:lnTo>
                  <a:pt x="6508144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2283880" y="-343927"/>
            <a:ext cx="6508145" cy="2745254"/>
          </a:xfrm>
          <a:custGeom>
            <a:avLst/>
            <a:gdLst/>
            <a:ahLst/>
            <a:cxnLst/>
            <a:rect r="r" b="b" t="t" l="l"/>
            <a:pathLst>
              <a:path h="2745254" w="6508145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29317" y="1847436"/>
            <a:ext cx="12703611" cy="12691989"/>
          </a:xfrm>
          <a:custGeom>
            <a:avLst/>
            <a:gdLst/>
            <a:ahLst/>
            <a:cxnLst/>
            <a:rect r="r" b="b" t="t" l="l"/>
            <a:pathLst>
              <a:path h="12691989" w="12703611">
                <a:moveTo>
                  <a:pt x="0" y="0"/>
                </a:moveTo>
                <a:lnTo>
                  <a:pt x="12703611" y="0"/>
                </a:lnTo>
                <a:lnTo>
                  <a:pt x="12703611" y="12691988"/>
                </a:lnTo>
                <a:lnTo>
                  <a:pt x="0" y="12691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21706" y="2935499"/>
            <a:ext cx="18931411" cy="9101640"/>
            <a:chOff x="0" y="0"/>
            <a:chExt cx="660400" cy="317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1750"/>
              <a:ext cx="660400" cy="2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795531" y="998553"/>
            <a:ext cx="1697766" cy="1697766"/>
          </a:xfrm>
          <a:custGeom>
            <a:avLst/>
            <a:gdLst/>
            <a:ahLst/>
            <a:cxnLst/>
            <a:rect r="r" b="b" t="t" l="l"/>
            <a:pathLst>
              <a:path h="1697766" w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23855" y="998553"/>
            <a:ext cx="1697766" cy="1697766"/>
          </a:xfrm>
          <a:custGeom>
            <a:avLst/>
            <a:gdLst/>
            <a:ahLst/>
            <a:cxnLst/>
            <a:rect r="r" b="b" t="t" l="l"/>
            <a:pathLst>
              <a:path h="1697766" w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568366" y="1627460"/>
            <a:ext cx="1203264" cy="1203264"/>
          </a:xfrm>
          <a:custGeom>
            <a:avLst/>
            <a:gdLst/>
            <a:ahLst/>
            <a:cxnLst/>
            <a:rect r="r" b="b" t="t" l="l"/>
            <a:pathLst>
              <a:path h="1203264" w="1203264">
                <a:moveTo>
                  <a:pt x="0" y="0"/>
                </a:moveTo>
                <a:lnTo>
                  <a:pt x="1203265" y="0"/>
                </a:lnTo>
                <a:lnTo>
                  <a:pt x="1203265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601632" y="2401327"/>
            <a:ext cx="1203264" cy="1203264"/>
          </a:xfrm>
          <a:custGeom>
            <a:avLst/>
            <a:gdLst/>
            <a:ahLst/>
            <a:cxnLst/>
            <a:rect r="r" b="b" t="t" l="l"/>
            <a:pathLst>
              <a:path h="1203264" w="1203264">
                <a:moveTo>
                  <a:pt x="0" y="0"/>
                </a:moveTo>
                <a:lnTo>
                  <a:pt x="1203264" y="0"/>
                </a:lnTo>
                <a:lnTo>
                  <a:pt x="1203264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339963" y="6519129"/>
            <a:ext cx="6943917" cy="184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7"/>
              </a:lnSpc>
            </a:pPr>
            <a:r>
              <a:rPr lang="en-US" sz="3469" b="true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AP23110010953 - CH.Suhass</a:t>
            </a:r>
          </a:p>
          <a:p>
            <a:pPr algn="ctr">
              <a:lnSpc>
                <a:spcPts val="4857"/>
              </a:lnSpc>
            </a:pPr>
            <a:r>
              <a:rPr lang="en-US" sz="3469" b="true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AP23110010976 - S.Praneeth</a:t>
            </a:r>
          </a:p>
          <a:p>
            <a:pPr algn="ctr">
              <a:lnSpc>
                <a:spcPts val="4857"/>
              </a:lnSpc>
              <a:spcBef>
                <a:spcPct val="0"/>
              </a:spcBef>
            </a:pPr>
            <a:r>
              <a:rPr lang="en-US" b="true" sz="3469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AP23110010645 - R.Pujith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39963" y="5998286"/>
            <a:ext cx="6943917" cy="60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2"/>
              </a:lnSpc>
              <a:spcBef>
                <a:spcPct val="0"/>
              </a:spcBef>
            </a:pPr>
            <a:r>
              <a:rPr lang="en-US" b="true" sz="3494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AP23110011328 - M.Vyshnavi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21711" y="5467919"/>
            <a:ext cx="9244578" cy="60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2"/>
              </a:lnSpc>
              <a:spcBef>
                <a:spcPct val="0"/>
              </a:spcBef>
            </a:pPr>
            <a:r>
              <a:rPr lang="en-US" b="true" sz="3494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AP23110011513 - Z.Udaya lakshmi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54587" y="892417"/>
            <a:ext cx="5978825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Our Team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504025" y="-343927"/>
            <a:ext cx="6508145" cy="2745254"/>
          </a:xfrm>
          <a:custGeom>
            <a:avLst/>
            <a:gdLst/>
            <a:ahLst/>
            <a:cxnLst/>
            <a:rect r="r" b="b" t="t" l="l"/>
            <a:pathLst>
              <a:path h="2745254" w="6508145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5889928" y="-343927"/>
            <a:ext cx="6508145" cy="2745254"/>
          </a:xfrm>
          <a:custGeom>
            <a:avLst/>
            <a:gdLst/>
            <a:ahLst/>
            <a:cxnLst/>
            <a:rect r="r" b="b" t="t" l="l"/>
            <a:pathLst>
              <a:path h="2745254" w="6508145">
                <a:moveTo>
                  <a:pt x="6508144" y="2745254"/>
                </a:moveTo>
                <a:lnTo>
                  <a:pt x="0" y="2745254"/>
                </a:lnTo>
                <a:lnTo>
                  <a:pt x="0" y="0"/>
                </a:lnTo>
                <a:lnTo>
                  <a:pt x="6508144" y="0"/>
                </a:lnTo>
                <a:lnTo>
                  <a:pt x="6508144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2283880" y="-343927"/>
            <a:ext cx="6508145" cy="2745254"/>
          </a:xfrm>
          <a:custGeom>
            <a:avLst/>
            <a:gdLst/>
            <a:ahLst/>
            <a:cxnLst/>
            <a:rect r="r" b="b" t="t" l="l"/>
            <a:pathLst>
              <a:path h="2745254" w="6508145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29317" y="1847436"/>
            <a:ext cx="12703611" cy="12691989"/>
          </a:xfrm>
          <a:custGeom>
            <a:avLst/>
            <a:gdLst/>
            <a:ahLst/>
            <a:cxnLst/>
            <a:rect r="r" b="b" t="t" l="l"/>
            <a:pathLst>
              <a:path h="12691989" w="12703611">
                <a:moveTo>
                  <a:pt x="0" y="0"/>
                </a:moveTo>
                <a:lnTo>
                  <a:pt x="12703611" y="0"/>
                </a:lnTo>
                <a:lnTo>
                  <a:pt x="12703611" y="12691988"/>
                </a:lnTo>
                <a:lnTo>
                  <a:pt x="0" y="12691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434167" y="1295935"/>
            <a:ext cx="21156335" cy="9101640"/>
            <a:chOff x="0" y="0"/>
            <a:chExt cx="738014" cy="317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8014" cy="317500"/>
            </a:xfrm>
            <a:custGeom>
              <a:avLst/>
              <a:gdLst/>
              <a:ahLst/>
              <a:cxnLst/>
              <a:rect r="r" b="b" t="t" l="l"/>
              <a:pathLst>
                <a:path h="317500" w="738014">
                  <a:moveTo>
                    <a:pt x="246138" y="19070"/>
                  </a:moveTo>
                  <a:cubicBezTo>
                    <a:pt x="283851" y="7556"/>
                    <a:pt x="326988" y="0"/>
                    <a:pt x="369206" y="0"/>
                  </a:cubicBezTo>
                  <a:cubicBezTo>
                    <a:pt x="411424" y="0"/>
                    <a:pt x="452049" y="6476"/>
                    <a:pt x="489486" y="17990"/>
                  </a:cubicBezTo>
                  <a:cubicBezTo>
                    <a:pt x="490284" y="18350"/>
                    <a:pt x="491080" y="18350"/>
                    <a:pt x="491876" y="18710"/>
                  </a:cubicBezTo>
                  <a:cubicBezTo>
                    <a:pt x="632469" y="64765"/>
                    <a:pt x="736023" y="186379"/>
                    <a:pt x="738014" y="317500"/>
                  </a:cubicBezTo>
                  <a:lnTo>
                    <a:pt x="738014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991" y="185660"/>
                    <a:pt x="103951" y="64045"/>
                    <a:pt x="246138" y="19070"/>
                  </a:cubicBez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1750"/>
              <a:ext cx="738014" cy="2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795531" y="998553"/>
            <a:ext cx="1697766" cy="1697766"/>
          </a:xfrm>
          <a:custGeom>
            <a:avLst/>
            <a:gdLst/>
            <a:ahLst/>
            <a:cxnLst/>
            <a:rect r="r" b="b" t="t" l="l"/>
            <a:pathLst>
              <a:path h="1697766" w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23855" y="998553"/>
            <a:ext cx="1697766" cy="1697766"/>
          </a:xfrm>
          <a:custGeom>
            <a:avLst/>
            <a:gdLst/>
            <a:ahLst/>
            <a:cxnLst/>
            <a:rect r="r" b="b" t="t" l="l"/>
            <a:pathLst>
              <a:path h="1697766" w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568366" y="1627460"/>
            <a:ext cx="1203264" cy="1203264"/>
          </a:xfrm>
          <a:custGeom>
            <a:avLst/>
            <a:gdLst/>
            <a:ahLst/>
            <a:cxnLst/>
            <a:rect r="r" b="b" t="t" l="l"/>
            <a:pathLst>
              <a:path h="1203264" w="1203264">
                <a:moveTo>
                  <a:pt x="0" y="0"/>
                </a:moveTo>
                <a:lnTo>
                  <a:pt x="1203265" y="0"/>
                </a:lnTo>
                <a:lnTo>
                  <a:pt x="1203265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601632" y="2401327"/>
            <a:ext cx="1203264" cy="1203264"/>
          </a:xfrm>
          <a:custGeom>
            <a:avLst/>
            <a:gdLst/>
            <a:ahLst/>
            <a:cxnLst/>
            <a:rect r="r" b="b" t="t" l="l"/>
            <a:pathLst>
              <a:path h="1203264" w="1203264">
                <a:moveTo>
                  <a:pt x="0" y="0"/>
                </a:moveTo>
                <a:lnTo>
                  <a:pt x="1203264" y="0"/>
                </a:lnTo>
                <a:lnTo>
                  <a:pt x="1203264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29317" y="3726393"/>
            <a:ext cx="13720559" cy="519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 b="true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Problem Statement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Financial news articles contain critical information like company names, stock tickers, currency values, mergers, acquisitions, and economic events.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However, manually extracting these details is time-consuming and error-prone.</a:t>
            </a:r>
          </a:p>
          <a:p>
            <a:pPr algn="just">
              <a:lnSpc>
                <a:spcPts val="4899"/>
              </a:lnSpc>
            </a:pPr>
            <a:r>
              <a:rPr lang="en-US" sz="3499" b="true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Objectives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Automatically extract key financial entities from news text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Build a custom NER model trained from scratch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Convert financial text into structured insights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Provide a simple web interface for real-time entity extraction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529317" y="205060"/>
            <a:ext cx="12703611" cy="257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Problem Statement &amp; Objectives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4590867" y="-791896"/>
            <a:ext cx="6878351" cy="6878351"/>
          </a:xfrm>
          <a:custGeom>
            <a:avLst/>
            <a:gdLst/>
            <a:ahLst/>
            <a:cxnLst/>
            <a:rect r="r" b="b" t="t" l="l"/>
            <a:pathLst>
              <a:path h="6878351" w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195003" y="4071833"/>
            <a:ext cx="6878351" cy="6878351"/>
          </a:xfrm>
          <a:custGeom>
            <a:avLst/>
            <a:gdLst/>
            <a:ahLst/>
            <a:cxnLst/>
            <a:rect r="r" b="b" t="t" l="l"/>
            <a:pathLst>
              <a:path h="6878351" w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08252" y="3602757"/>
            <a:ext cx="7816504" cy="781650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82512" y="-1260972"/>
            <a:ext cx="7816504" cy="781650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690799" y="6743699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0" y="0"/>
                </a:moveTo>
                <a:lnTo>
                  <a:pt x="4339243" y="0"/>
                </a:lnTo>
                <a:lnTo>
                  <a:pt x="43392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244173" y="-512043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13794" y="9258300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52152" y="521205"/>
            <a:ext cx="11183697" cy="257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Proposed Solution &amp; Workflow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08252" y="2580605"/>
            <a:ext cx="12946162" cy="692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Proposed Solution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Develop a complete pipeline that: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Processes raw financial text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Tokenizes using a custom-trained tokenizer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Predicts entities using a scratch-trained NER model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Displays extracted entities via a Flask web interface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Workflow</a:t>
            </a:r>
          </a:p>
          <a:p>
            <a:pPr algn="just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Dataset Loading (FiNER)</a:t>
            </a:r>
          </a:p>
          <a:p>
            <a:pPr algn="just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Text Preprocessing → Tokenization → Label Alignment</a:t>
            </a:r>
          </a:p>
          <a:p>
            <a:pPr algn="just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Train Token Classification Model (Transformers)</a:t>
            </a:r>
          </a:p>
          <a:p>
            <a:pPr algn="just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Evaluate &amp; Save the Model</a:t>
            </a:r>
          </a:p>
          <a:p>
            <a:pPr algn="just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Deploy using Python Flask</a:t>
            </a:r>
          </a:p>
          <a:p>
            <a:pPr algn="just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User inputs text → System returns detected entities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9808" y="-422828"/>
            <a:ext cx="6902127" cy="4998345"/>
          </a:xfrm>
          <a:custGeom>
            <a:avLst/>
            <a:gdLst/>
            <a:ahLst/>
            <a:cxnLst/>
            <a:rect r="r" b="b" t="t" l="l"/>
            <a:pathLst>
              <a:path h="4998345" w="6902127">
                <a:moveTo>
                  <a:pt x="0" y="0"/>
                </a:moveTo>
                <a:lnTo>
                  <a:pt x="6902126" y="0"/>
                </a:lnTo>
                <a:lnTo>
                  <a:pt x="6902126" y="4998345"/>
                </a:lnTo>
                <a:lnTo>
                  <a:pt x="0" y="4998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716316" y="6983610"/>
            <a:ext cx="3917152" cy="3660757"/>
          </a:xfrm>
          <a:custGeom>
            <a:avLst/>
            <a:gdLst/>
            <a:ahLst/>
            <a:cxnLst/>
            <a:rect r="r" b="b" t="t" l="l"/>
            <a:pathLst>
              <a:path h="3660757" w="3917152">
                <a:moveTo>
                  <a:pt x="0" y="3660757"/>
                </a:moveTo>
                <a:lnTo>
                  <a:pt x="3917152" y="3660757"/>
                </a:lnTo>
                <a:lnTo>
                  <a:pt x="3917152" y="0"/>
                </a:lnTo>
                <a:lnTo>
                  <a:pt x="0" y="0"/>
                </a:lnTo>
                <a:lnTo>
                  <a:pt x="0" y="366075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91268">
            <a:off x="3802568" y="3836999"/>
            <a:ext cx="2777650" cy="482617"/>
          </a:xfrm>
          <a:custGeom>
            <a:avLst/>
            <a:gdLst/>
            <a:ahLst/>
            <a:cxnLst/>
            <a:rect r="r" b="b" t="t" l="l"/>
            <a:pathLst>
              <a:path h="482617" w="2777650">
                <a:moveTo>
                  <a:pt x="0" y="0"/>
                </a:moveTo>
                <a:lnTo>
                  <a:pt x="2777650" y="0"/>
                </a:lnTo>
                <a:lnTo>
                  <a:pt x="2777650" y="482616"/>
                </a:lnTo>
                <a:lnTo>
                  <a:pt x="0" y="4826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94000">
            <a:off x="6083803" y="3837971"/>
            <a:ext cx="2777650" cy="482617"/>
          </a:xfrm>
          <a:custGeom>
            <a:avLst/>
            <a:gdLst/>
            <a:ahLst/>
            <a:cxnLst/>
            <a:rect r="r" b="b" t="t" l="l"/>
            <a:pathLst>
              <a:path h="482617" w="2777650">
                <a:moveTo>
                  <a:pt x="0" y="0"/>
                </a:moveTo>
                <a:lnTo>
                  <a:pt x="2777650" y="0"/>
                </a:lnTo>
                <a:lnTo>
                  <a:pt x="2777650" y="482617"/>
                </a:lnTo>
                <a:lnTo>
                  <a:pt x="0" y="4826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1680095" y="3181641"/>
            <a:ext cx="7180566" cy="7900976"/>
            <a:chOff x="0" y="0"/>
            <a:chExt cx="872851" cy="9604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2851" cy="960423"/>
            </a:xfrm>
            <a:custGeom>
              <a:avLst/>
              <a:gdLst/>
              <a:ahLst/>
              <a:cxnLst/>
              <a:rect r="r" b="b" t="t" l="l"/>
              <a:pathLst>
                <a:path h="960423" w="872851">
                  <a:moveTo>
                    <a:pt x="872851" y="0"/>
                  </a:moveTo>
                  <a:lnTo>
                    <a:pt x="872851" y="846123"/>
                  </a:lnTo>
                  <a:lnTo>
                    <a:pt x="436426" y="960423"/>
                  </a:lnTo>
                  <a:lnTo>
                    <a:pt x="0" y="846123"/>
                  </a:lnTo>
                  <a:lnTo>
                    <a:pt x="0" y="0"/>
                  </a:lnTo>
                  <a:lnTo>
                    <a:pt x="872851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72851" cy="89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191268">
            <a:off x="9391278" y="3836999"/>
            <a:ext cx="2777650" cy="482617"/>
          </a:xfrm>
          <a:custGeom>
            <a:avLst/>
            <a:gdLst/>
            <a:ahLst/>
            <a:cxnLst/>
            <a:rect r="r" b="b" t="t" l="l"/>
            <a:pathLst>
              <a:path h="482617" w="2777650">
                <a:moveTo>
                  <a:pt x="0" y="0"/>
                </a:moveTo>
                <a:lnTo>
                  <a:pt x="2777650" y="0"/>
                </a:lnTo>
                <a:lnTo>
                  <a:pt x="2777650" y="482616"/>
                </a:lnTo>
                <a:lnTo>
                  <a:pt x="0" y="4826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194000">
            <a:off x="11672513" y="3837971"/>
            <a:ext cx="2777650" cy="482617"/>
          </a:xfrm>
          <a:custGeom>
            <a:avLst/>
            <a:gdLst/>
            <a:ahLst/>
            <a:cxnLst/>
            <a:rect r="r" b="b" t="t" l="l"/>
            <a:pathLst>
              <a:path h="482617" w="2777650">
                <a:moveTo>
                  <a:pt x="0" y="0"/>
                </a:moveTo>
                <a:lnTo>
                  <a:pt x="2777650" y="0"/>
                </a:lnTo>
                <a:lnTo>
                  <a:pt x="2777650" y="482617"/>
                </a:lnTo>
                <a:lnTo>
                  <a:pt x="0" y="4826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0800000">
            <a:off x="9723411" y="3162200"/>
            <a:ext cx="6951481" cy="7482167"/>
            <a:chOff x="0" y="0"/>
            <a:chExt cx="845004" cy="9095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5004" cy="909513"/>
            </a:xfrm>
            <a:custGeom>
              <a:avLst/>
              <a:gdLst/>
              <a:ahLst/>
              <a:cxnLst/>
              <a:rect r="r" b="b" t="t" l="l"/>
              <a:pathLst>
                <a:path h="909513" w="845004">
                  <a:moveTo>
                    <a:pt x="845004" y="0"/>
                  </a:moveTo>
                  <a:lnTo>
                    <a:pt x="845004" y="795213"/>
                  </a:lnTo>
                  <a:lnTo>
                    <a:pt x="422502" y="909513"/>
                  </a:lnTo>
                  <a:lnTo>
                    <a:pt x="0" y="795213"/>
                  </a:lnTo>
                  <a:lnTo>
                    <a:pt x="0" y="0"/>
                  </a:lnTo>
                  <a:lnTo>
                    <a:pt x="845004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45004" cy="842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928462" y="4012605"/>
            <a:ext cx="6541378" cy="643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Load dataset (gtfintechlab/finer-ord)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Standardize tokens + labels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Custom train SentencePiece tokenizer (16k vocab)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Train a Transformer token classification model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6 layers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256 hidden size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7-label output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Evaluate using SeqEval metrics (Precision, Recall, F1)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Deploy model via Flask API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165191" y="2093322"/>
            <a:ext cx="4067920" cy="72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2F4156"/>
                </a:solidFill>
                <a:latin typeface="Cloud Bold"/>
                <a:ea typeface="Cloud Bold"/>
                <a:cs typeface="Cloud Bold"/>
                <a:sym typeface="Cloud Bold"/>
              </a:rPr>
              <a:t>Methodology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88975" y="4228345"/>
            <a:ext cx="5162804" cy="5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FiNER Dataset (Financial Named Entity Recognition)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Contains financial news tokens labeled with: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Company (ORG)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Currency/Money (MONEY)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Stock Ticker (TICKER)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Financial Events (EVENT)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Date/Time (DATE)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Non-entity (O)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404708" y="2112372"/>
            <a:ext cx="4067920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F4156"/>
                </a:solidFill>
                <a:latin typeface="Cloud Bold"/>
                <a:ea typeface="Cloud Bold"/>
                <a:cs typeface="Cloud Bold"/>
                <a:sym typeface="Cloud Bold"/>
              </a:rPr>
              <a:t>Dataset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86949" y="296975"/>
            <a:ext cx="11809854" cy="152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</a:pPr>
            <a:r>
              <a:rPr lang="en-US" sz="7999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 Dataset &amp; Methodology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57052" y="1252186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9286" y="2255649"/>
            <a:ext cx="7307388" cy="7307388"/>
          </a:xfrm>
          <a:custGeom>
            <a:avLst/>
            <a:gdLst/>
            <a:ahLst/>
            <a:cxnLst/>
            <a:rect r="r" b="b" t="t" l="l"/>
            <a:pathLst>
              <a:path h="7307388" w="7307388">
                <a:moveTo>
                  <a:pt x="0" y="0"/>
                </a:moveTo>
                <a:lnTo>
                  <a:pt x="7307389" y="0"/>
                </a:lnTo>
                <a:lnTo>
                  <a:pt x="7307389" y="7307388"/>
                </a:lnTo>
                <a:lnTo>
                  <a:pt x="0" y="7307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98456" y="2518866"/>
            <a:ext cx="15157905" cy="7044171"/>
            <a:chOff x="0" y="0"/>
            <a:chExt cx="1806308" cy="8394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6308" cy="839426"/>
            </a:xfrm>
            <a:custGeom>
              <a:avLst/>
              <a:gdLst/>
              <a:ahLst/>
              <a:cxnLst/>
              <a:rect r="r" b="b" t="t" l="l"/>
              <a:pathLst>
                <a:path h="839426" w="1806308">
                  <a:moveTo>
                    <a:pt x="0" y="0"/>
                  </a:moveTo>
                  <a:lnTo>
                    <a:pt x="1806308" y="0"/>
                  </a:lnTo>
                  <a:lnTo>
                    <a:pt x="1806308" y="839426"/>
                  </a:lnTo>
                  <a:lnTo>
                    <a:pt x="0" y="839426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806308" cy="934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793802" y="-1859151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657387" y="3166631"/>
            <a:ext cx="5233614" cy="580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31"/>
              </a:lnSpc>
            </a:pPr>
            <a:r>
              <a:rPr lang="en-US" sz="3308" b="true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Programming Languages</a:t>
            </a:r>
          </a:p>
          <a:p>
            <a:pPr algn="just" marL="714199" indent="-357100" lvl="1">
              <a:lnSpc>
                <a:spcPts val="4631"/>
              </a:lnSpc>
              <a:buFont typeface="Arial"/>
              <a:buChar char="•"/>
            </a:pPr>
            <a:r>
              <a:rPr lang="en-US" sz="3308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Python</a:t>
            </a:r>
          </a:p>
          <a:p>
            <a:pPr algn="just" marL="714199" indent="-357100" lvl="1">
              <a:lnSpc>
                <a:spcPts val="4631"/>
              </a:lnSpc>
              <a:buFont typeface="Arial"/>
              <a:buChar char="•"/>
            </a:pPr>
            <a:r>
              <a:rPr lang="en-US" sz="3308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JavaScript</a:t>
            </a:r>
          </a:p>
          <a:p>
            <a:pPr algn="just">
              <a:lnSpc>
                <a:spcPts val="4631"/>
              </a:lnSpc>
            </a:pPr>
            <a:r>
              <a:rPr lang="en-US" sz="3308" b="true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ML Frameworks</a:t>
            </a:r>
          </a:p>
          <a:p>
            <a:pPr algn="just" marL="714199" indent="-357100" lvl="1">
              <a:lnSpc>
                <a:spcPts val="4631"/>
              </a:lnSpc>
              <a:buFont typeface="Arial"/>
              <a:buChar char="•"/>
            </a:pPr>
            <a:r>
              <a:rPr lang="en-US" sz="3308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PyTorch</a:t>
            </a:r>
          </a:p>
          <a:p>
            <a:pPr algn="just" marL="714199" indent="-357100" lvl="1">
              <a:lnSpc>
                <a:spcPts val="4631"/>
              </a:lnSpc>
              <a:buFont typeface="Arial"/>
              <a:buChar char="•"/>
            </a:pPr>
            <a:r>
              <a:rPr lang="en-US" sz="3308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HuggingFace Transformers</a:t>
            </a:r>
          </a:p>
          <a:p>
            <a:pPr algn="just" marL="714199" indent="-357100" lvl="1">
              <a:lnSpc>
                <a:spcPts val="4631"/>
              </a:lnSpc>
              <a:buFont typeface="Arial"/>
              <a:buChar char="•"/>
            </a:pPr>
            <a:r>
              <a:rPr lang="en-US" sz="3308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SentencePiece Tokenizer</a:t>
            </a:r>
          </a:p>
          <a:p>
            <a:pPr algn="just">
              <a:lnSpc>
                <a:spcPts val="4631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4494198" y="918974"/>
            <a:ext cx="9299605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Technologies Used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57973" y="3099876"/>
            <a:ext cx="5440990" cy="597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1"/>
              </a:lnSpc>
            </a:pPr>
            <a:r>
              <a:rPr lang="en-US" sz="3072" b="true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Tools &amp; Libraries</a:t>
            </a:r>
          </a:p>
          <a:p>
            <a:pPr algn="just" marL="663423" indent="-331711" lvl="1">
              <a:lnSpc>
                <a:spcPts val="4301"/>
              </a:lnSpc>
              <a:buFont typeface="Arial"/>
              <a:buChar char="•"/>
            </a:pPr>
            <a:r>
              <a:rPr lang="en-US" sz="3072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Datasets</a:t>
            </a:r>
          </a:p>
          <a:p>
            <a:pPr algn="just" marL="663423" indent="-331711" lvl="1">
              <a:lnSpc>
                <a:spcPts val="4301"/>
              </a:lnSpc>
              <a:buFont typeface="Arial"/>
              <a:buChar char="•"/>
            </a:pPr>
            <a:r>
              <a:rPr lang="en-US" sz="3072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SeqEval</a:t>
            </a:r>
          </a:p>
          <a:p>
            <a:pPr algn="just" marL="663423" indent="-331711" lvl="1">
              <a:lnSpc>
                <a:spcPts val="4301"/>
              </a:lnSpc>
              <a:buFont typeface="Arial"/>
              <a:buChar char="•"/>
            </a:pPr>
            <a:r>
              <a:rPr lang="en-US" sz="3072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Evaluate</a:t>
            </a:r>
          </a:p>
          <a:p>
            <a:pPr algn="just" marL="663423" indent="-331711" lvl="1">
              <a:lnSpc>
                <a:spcPts val="4301"/>
              </a:lnSpc>
              <a:buFont typeface="Arial"/>
              <a:buChar char="•"/>
            </a:pPr>
            <a:r>
              <a:rPr lang="en-US" sz="3072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Flask (Web Framework)</a:t>
            </a:r>
          </a:p>
          <a:p>
            <a:pPr algn="just" marL="663423" indent="-331711" lvl="1">
              <a:lnSpc>
                <a:spcPts val="4301"/>
              </a:lnSpc>
              <a:buFont typeface="Arial"/>
              <a:buChar char="•"/>
            </a:pPr>
            <a:r>
              <a:rPr lang="en-US" sz="3072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HTML, CSS, JS</a:t>
            </a:r>
          </a:p>
          <a:p>
            <a:pPr algn="just">
              <a:lnSpc>
                <a:spcPts val="4301"/>
              </a:lnSpc>
            </a:pPr>
            <a:r>
              <a:rPr lang="en-US" sz="3072" b="true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Environment</a:t>
            </a:r>
          </a:p>
          <a:p>
            <a:pPr algn="just" marL="663423" indent="-331711" lvl="1">
              <a:lnSpc>
                <a:spcPts val="4301"/>
              </a:lnSpc>
              <a:buFont typeface="Arial"/>
              <a:buChar char="•"/>
            </a:pPr>
            <a:r>
              <a:rPr lang="en-US" sz="3072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Google Colab (Training)</a:t>
            </a:r>
          </a:p>
          <a:p>
            <a:pPr algn="just" marL="663423" indent="-331711" lvl="1">
              <a:lnSpc>
                <a:spcPts val="4301"/>
              </a:lnSpc>
              <a:buFont typeface="Arial"/>
              <a:buChar char="•"/>
            </a:pPr>
            <a:r>
              <a:rPr lang="en-US" sz="3072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Local Deployment (Flask Server)</a:t>
            </a:r>
          </a:p>
          <a:p>
            <a:pPr algn="just">
              <a:lnSpc>
                <a:spcPts val="430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8357" y="693388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3061" y="675291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04004" y="65719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4946" y="7105339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5889" y="6924364"/>
            <a:ext cx="3860943" cy="3860943"/>
          </a:xfrm>
          <a:custGeom>
            <a:avLst/>
            <a:gdLst/>
            <a:ahLst/>
            <a:cxnLst/>
            <a:rect r="r" b="b" t="t" l="l"/>
            <a:pathLst>
              <a:path h="3860943" w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57052" y="1252186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9286" y="2255649"/>
            <a:ext cx="7307388" cy="7307388"/>
          </a:xfrm>
          <a:custGeom>
            <a:avLst/>
            <a:gdLst/>
            <a:ahLst/>
            <a:cxnLst/>
            <a:rect r="r" b="b" t="t" l="l"/>
            <a:pathLst>
              <a:path h="7307388" w="7307388">
                <a:moveTo>
                  <a:pt x="0" y="0"/>
                </a:moveTo>
                <a:lnTo>
                  <a:pt x="7307389" y="0"/>
                </a:lnTo>
                <a:lnTo>
                  <a:pt x="7307389" y="7307388"/>
                </a:lnTo>
                <a:lnTo>
                  <a:pt x="0" y="7307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2545042"/>
            <a:ext cx="7547975" cy="7017995"/>
            <a:chOff x="0" y="0"/>
            <a:chExt cx="899462" cy="8363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9462" cy="836307"/>
            </a:xfrm>
            <a:custGeom>
              <a:avLst/>
              <a:gdLst/>
              <a:ahLst/>
              <a:cxnLst/>
              <a:rect r="r" b="b" t="t" l="l"/>
              <a:pathLst>
                <a:path h="836307" w="899462">
                  <a:moveTo>
                    <a:pt x="0" y="0"/>
                  </a:moveTo>
                  <a:lnTo>
                    <a:pt x="899462" y="0"/>
                  </a:lnTo>
                  <a:lnTo>
                    <a:pt x="899462" y="836307"/>
                  </a:lnTo>
                  <a:lnTo>
                    <a:pt x="0" y="836307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899462" cy="93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793802" y="-1859151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72666" y="2546299"/>
            <a:ext cx="7260043" cy="701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 b="true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Model Results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Successfully trained NER model from scratch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Achieved meaningful detection of:</a:t>
            </a:r>
          </a:p>
          <a:p>
            <a:pPr algn="just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Company names</a:t>
            </a:r>
          </a:p>
          <a:p>
            <a:pPr algn="just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Monetary values</a:t>
            </a:r>
          </a:p>
          <a:p>
            <a:pPr algn="just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Stock tickers</a:t>
            </a:r>
          </a:p>
          <a:p>
            <a:pPr algn="just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Acquisition / merger terms</a:t>
            </a:r>
          </a:p>
          <a:p>
            <a:pPr algn="just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Financial events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Model outputs consistent labels in real testing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Web interface accurately displays extracted entities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4494198" y="918974"/>
            <a:ext cx="9299605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Results &amp; Findings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34475" y="3233386"/>
            <a:ext cx="7921422" cy="514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</a:pPr>
            <a:r>
              <a:rPr lang="en-US" sz="2911" b="true">
                <a:solidFill>
                  <a:srgbClr val="000000"/>
                </a:solidFill>
                <a:latin typeface="Cloud Bold"/>
                <a:ea typeface="Cloud Bold"/>
                <a:cs typeface="Cloud Bold"/>
                <a:sym typeface="Cloud Bold"/>
              </a:rPr>
              <a:t>Qualitative Results</a:t>
            </a:r>
          </a:p>
          <a:p>
            <a:pPr algn="l">
              <a:lnSpc>
                <a:spcPts val="4076"/>
              </a:lnSpc>
            </a:pPr>
            <a:r>
              <a:rPr lang="en-US" sz="2911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Example Input:</a:t>
            </a:r>
          </a:p>
          <a:p>
            <a:pPr algn="l">
              <a:lnSpc>
                <a:spcPts val="4076"/>
              </a:lnSpc>
            </a:pPr>
            <a:r>
              <a:rPr lang="en-US" sz="2911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“Apple announced a $2 billion acquisition of PayPlus today.”</a:t>
            </a:r>
          </a:p>
          <a:p>
            <a:pPr algn="l">
              <a:lnSpc>
                <a:spcPts val="4076"/>
              </a:lnSpc>
            </a:pPr>
            <a:r>
              <a:rPr lang="en-US" sz="2911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Output Entities:</a:t>
            </a:r>
          </a:p>
          <a:p>
            <a:pPr algn="l" marL="628685" indent="-314343" lvl="1">
              <a:lnSpc>
                <a:spcPts val="4076"/>
              </a:lnSpc>
              <a:buFont typeface="Arial"/>
              <a:buChar char="•"/>
            </a:pPr>
            <a:r>
              <a:rPr lang="en-US" sz="2911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Apple → ORG</a:t>
            </a:r>
          </a:p>
          <a:p>
            <a:pPr algn="l" marL="628685" indent="-314343" lvl="1">
              <a:lnSpc>
                <a:spcPts val="4076"/>
              </a:lnSpc>
              <a:buFont typeface="Arial"/>
              <a:buChar char="•"/>
            </a:pPr>
            <a:r>
              <a:rPr lang="en-US" sz="2911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$2 billion → MONEY</a:t>
            </a:r>
          </a:p>
          <a:p>
            <a:pPr algn="l" marL="628685" indent="-314343" lvl="1">
              <a:lnSpc>
                <a:spcPts val="4076"/>
              </a:lnSpc>
              <a:buFont typeface="Arial"/>
              <a:buChar char="•"/>
            </a:pPr>
            <a:r>
              <a:rPr lang="en-US" sz="2911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acquisition → EVENT</a:t>
            </a:r>
          </a:p>
          <a:p>
            <a:pPr algn="l" marL="628685" indent="-314343" lvl="1">
              <a:lnSpc>
                <a:spcPts val="4076"/>
              </a:lnSpc>
              <a:buFont typeface="Arial"/>
              <a:buChar char="•"/>
            </a:pPr>
            <a:r>
              <a:rPr lang="en-US" sz="2911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PayPlus → ORG</a:t>
            </a:r>
          </a:p>
          <a:p>
            <a:pPr algn="l">
              <a:lnSpc>
                <a:spcPts val="40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4590867" y="-791896"/>
            <a:ext cx="6878351" cy="6878351"/>
          </a:xfrm>
          <a:custGeom>
            <a:avLst/>
            <a:gdLst/>
            <a:ahLst/>
            <a:cxnLst/>
            <a:rect r="r" b="b" t="t" l="l"/>
            <a:pathLst>
              <a:path h="6878351" w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195003" y="4071833"/>
            <a:ext cx="6878351" cy="6878351"/>
          </a:xfrm>
          <a:custGeom>
            <a:avLst/>
            <a:gdLst/>
            <a:ahLst/>
            <a:cxnLst/>
            <a:rect r="r" b="b" t="t" l="l"/>
            <a:pathLst>
              <a:path h="6878351" w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08252" y="3602757"/>
            <a:ext cx="7816504" cy="781650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82512" y="-1260972"/>
            <a:ext cx="7816504" cy="781650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690799" y="6743699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0" y="0"/>
                </a:moveTo>
                <a:lnTo>
                  <a:pt x="4339243" y="0"/>
                </a:lnTo>
                <a:lnTo>
                  <a:pt x="43392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244173" y="-512043"/>
            <a:ext cx="4339244" cy="4114800"/>
          </a:xfrm>
          <a:custGeom>
            <a:avLst/>
            <a:gdLst/>
            <a:ahLst/>
            <a:cxnLst/>
            <a:rect r="r" b="b" t="t" l="l"/>
            <a:pathLst>
              <a:path h="4114800" w="4339244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13794" y="9258300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972670" y="-852349"/>
            <a:ext cx="4387287" cy="1881049"/>
          </a:xfrm>
          <a:custGeom>
            <a:avLst/>
            <a:gdLst/>
            <a:ahLst/>
            <a:cxnLst/>
            <a:rect r="r" b="b" t="t" l="l"/>
            <a:pathLst>
              <a:path h="1881049" w="4387287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791586" y="2903739"/>
            <a:ext cx="12068835" cy="556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 b="true">
                <a:solidFill>
                  <a:srgbClr val="2F4156"/>
                </a:solidFill>
                <a:latin typeface="Cloud Bold"/>
                <a:ea typeface="Cloud Bold"/>
                <a:cs typeface="Cloud Bold"/>
                <a:sym typeface="Cloud Bold"/>
              </a:rPr>
              <a:t>Conclusion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Developed a complete end-to-end Financial NER System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Model trained fully from scratch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Web interface enables easy, interactive analysis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Helps convert unstructured financial text into actionable insights</a:t>
            </a:r>
          </a:p>
          <a:p>
            <a:pPr algn="just">
              <a:lnSpc>
                <a:spcPts val="4199"/>
              </a:lnSpc>
            </a:pPr>
            <a:r>
              <a:rPr lang="en-US" sz="2999" b="true">
                <a:solidFill>
                  <a:srgbClr val="2F4156"/>
                </a:solidFill>
                <a:latin typeface="Cloud Bold"/>
                <a:ea typeface="Cloud Bold"/>
                <a:cs typeface="Cloud Bold"/>
                <a:sym typeface="Cloud Bold"/>
              </a:rPr>
              <a:t>Future Scope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Add offset-based highlighting for perfect UI accuracy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Integrate stock API to link companies → tickers → market data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Add graphical dashboards (donut charts, entity frequency trends)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Deploy as a cloud-based REST API for large-scale analytics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204390" y="745257"/>
            <a:ext cx="12767306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Conclusion &amp; Future Scope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41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66687" y="1767594"/>
            <a:ext cx="6754627" cy="6751812"/>
          </a:xfrm>
          <a:custGeom>
            <a:avLst/>
            <a:gdLst/>
            <a:ahLst/>
            <a:cxnLst/>
            <a:rect r="r" b="b" t="t" l="l"/>
            <a:pathLst>
              <a:path h="6751812" w="6754627">
                <a:moveTo>
                  <a:pt x="0" y="0"/>
                </a:moveTo>
                <a:lnTo>
                  <a:pt x="6754626" y="0"/>
                </a:lnTo>
                <a:lnTo>
                  <a:pt x="6754626" y="6751812"/>
                </a:lnTo>
                <a:lnTo>
                  <a:pt x="0" y="6751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9201" y="227316"/>
            <a:ext cx="4754496" cy="4114800"/>
          </a:xfrm>
          <a:custGeom>
            <a:avLst/>
            <a:gdLst/>
            <a:ahLst/>
            <a:cxnLst/>
            <a:rect r="r" b="b" t="t" l="l"/>
            <a:pathLst>
              <a:path h="4114800" w="4754496">
                <a:moveTo>
                  <a:pt x="0" y="0"/>
                </a:moveTo>
                <a:lnTo>
                  <a:pt x="4754496" y="0"/>
                </a:lnTo>
                <a:lnTo>
                  <a:pt x="47544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44401" y="5866745"/>
            <a:ext cx="4804968" cy="4114800"/>
          </a:xfrm>
          <a:custGeom>
            <a:avLst/>
            <a:gdLst/>
            <a:ahLst/>
            <a:cxnLst/>
            <a:rect r="r" b="b" t="t" l="l"/>
            <a:pathLst>
              <a:path h="4114800" w="4804968">
                <a:moveTo>
                  <a:pt x="0" y="0"/>
                </a:moveTo>
                <a:lnTo>
                  <a:pt x="4804969" y="0"/>
                </a:lnTo>
                <a:lnTo>
                  <a:pt x="48049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0495" y="5866745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42795" y="-3887484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54780" y="4010977"/>
            <a:ext cx="5978441" cy="237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5"/>
              </a:lnSpc>
            </a:pPr>
            <a:r>
              <a:rPr lang="en-US" sz="9500" b="true">
                <a:solidFill>
                  <a:srgbClr val="F5EFEB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Q&amp;A Session?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99198" y="665151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93484" y="-383408"/>
            <a:ext cx="11067650" cy="11053816"/>
          </a:xfrm>
          <a:custGeom>
            <a:avLst/>
            <a:gdLst/>
            <a:ahLst/>
            <a:cxnLst/>
            <a:rect r="r" b="b" t="t" l="l"/>
            <a:pathLst>
              <a:path h="11053816" w="11067650">
                <a:moveTo>
                  <a:pt x="0" y="0"/>
                </a:moveTo>
                <a:lnTo>
                  <a:pt x="11067651" y="0"/>
                </a:lnTo>
                <a:lnTo>
                  <a:pt x="11067651" y="11053816"/>
                </a:lnTo>
                <a:lnTo>
                  <a:pt x="0" y="11053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7857602" y="-1836977"/>
            <a:ext cx="11343275" cy="13960954"/>
            <a:chOff x="0" y="0"/>
            <a:chExt cx="6604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660400" cy="78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333092" y="-383408"/>
            <a:ext cx="5426576" cy="4676722"/>
          </a:xfrm>
          <a:custGeom>
            <a:avLst/>
            <a:gdLst/>
            <a:ahLst/>
            <a:cxnLst/>
            <a:rect r="r" b="b" t="t" l="l"/>
            <a:pathLst>
              <a:path h="4676722" w="5426576">
                <a:moveTo>
                  <a:pt x="0" y="0"/>
                </a:moveTo>
                <a:lnTo>
                  <a:pt x="5426576" y="0"/>
                </a:lnTo>
                <a:lnTo>
                  <a:pt x="5426576" y="4676722"/>
                </a:lnTo>
                <a:lnTo>
                  <a:pt x="0" y="46767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204154" y="7647498"/>
            <a:ext cx="2176042" cy="2427633"/>
          </a:xfrm>
          <a:custGeom>
            <a:avLst/>
            <a:gdLst/>
            <a:ahLst/>
            <a:cxnLst/>
            <a:rect r="r" b="b" t="t" l="l"/>
            <a:pathLst>
              <a:path h="2427633" w="2176042">
                <a:moveTo>
                  <a:pt x="2176042" y="2427634"/>
                </a:moveTo>
                <a:lnTo>
                  <a:pt x="0" y="2427634"/>
                </a:lnTo>
                <a:lnTo>
                  <a:pt x="0" y="0"/>
                </a:lnTo>
                <a:lnTo>
                  <a:pt x="2176042" y="0"/>
                </a:lnTo>
                <a:lnTo>
                  <a:pt x="2176042" y="242763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072145" y="3411592"/>
            <a:ext cx="9612372" cy="367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US" sz="14926">
                <a:solidFill>
                  <a:srgbClr val="F5EFEB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DAG6M3BUhVE</dc:identifier>
  <dcterms:modified xsi:type="dcterms:W3CDTF">2011-08-01T06:04:30Z</dcterms:modified>
  <cp:revision>1</cp:revision>
  <dc:title>Blue Beige Geometry Group Project Presentation</dc:title>
</cp:coreProperties>
</file>